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구독</c:v>
                </c:pt>
                <c:pt idx="1">
                  <c:v>라이선스</c:v>
                </c:pt>
                <c:pt idx="2">
                  <c:v>서비스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0.3</c:v>
                </c:pt>
                <c:pt idx="2">
                  <c:v>0.15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286000"/>
            <a:ext cx="711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맑은 고딕"/>
              </a:rPr>
              <a:t>2026 하반기 사업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429000"/>
            <a:ext cx="711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B7280"/>
                </a:solidFill>
                <a:latin typeface="맑은 고딕"/>
              </a:rPr>
              <a:t>전략기획실 · 2026년 9월</a:t>
            </a:r>
          </a:p>
        </p:txBody>
      </p:sp>
      <p:grpSp>
        <p:nvGrpSpPr>
          <p:cNvPr id="9" name="로고"/>
          <p:cNvGrpSpPr/>
          <p:nvPr/>
        </p:nvGrpSpPr>
        <p:grpSpPr>
          <a:xfrm>
            <a:off x="508000" y="508000"/>
            <a:ext cx="2794000" cy="406400"/>
            <a:chOff x="508000" y="508000"/>
            <a:chExt cx="2794000" cy="406400"/>
          </a:xfrm>
        </p:grpSpPr>
        <p:grpSp>
          <p:nvGrpSpPr>
            <p:cNvPr id="7" name="Group 6"/>
            <p:cNvGrpSpPr/>
            <p:nvPr/>
          </p:nvGrpSpPr>
          <p:grpSpPr>
            <a:xfrm>
              <a:off x="508000" y="508000"/>
              <a:ext cx="635000" cy="381000"/>
              <a:chOff x="508000" y="508000"/>
              <a:chExt cx="635000" cy="3810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508000" y="5080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762000" y="508000"/>
                <a:ext cx="381000" cy="381000"/>
              </a:xfrm>
              <a:prstGeom prst="ellipse">
                <a:avLst/>
              </a:prstGeom>
              <a:solidFill>
                <a:srgbClr val="93C5F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1270000" y="533400"/>
              <a:ext cx="2032000" cy="38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>
                  <a:solidFill>
                    <a:srgbClr val="FFFFFF"/>
                  </a:solidFill>
                  <a:latin typeface="맑은 고딕"/>
                </a:rPr>
                <a:t>한빛모빌리티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지표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905000"/>
            <a:ext cx="2603500" cy="19050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600" b="1">
                <a:solidFill>
                  <a:srgbClr val="2563EB"/>
                </a:solidFill>
              </a:rPr>
              <a:t>1,240억</a:t>
            </a:r>
          </a:p>
          <a:p>
            <a:r>
              <a:rPr sz="1600">
                <a:solidFill>
                  <a:srgbClr val="111827"/>
                </a:solidFill>
              </a:rPr>
              <a:t>매출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65500" y="1905000"/>
            <a:ext cx="2603500" cy="19050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600" b="1">
                <a:solidFill>
                  <a:srgbClr val="2563EB"/>
                </a:solidFill>
              </a:rPr>
              <a:t>+12%</a:t>
            </a:r>
          </a:p>
          <a:p>
            <a:r>
              <a:rPr sz="1600">
                <a:solidFill>
                  <a:srgbClr val="111827"/>
                </a:solidFill>
              </a:rPr>
              <a:t>전년 대비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3000" y="1905000"/>
            <a:ext cx="2603500" cy="19050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600" b="1">
                <a:solidFill>
                  <a:srgbClr val="2563EB"/>
                </a:solidFill>
              </a:rPr>
              <a:t>34곳</a:t>
            </a:r>
          </a:p>
          <a:p>
            <a:r>
              <a:rPr sz="1600">
                <a:solidFill>
                  <a:srgbClr val="111827"/>
                </a:solidFill>
              </a:rPr>
              <a:t>신규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1905000"/>
            <a:ext cx="2603500" cy="19050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600" b="1">
                <a:solidFill>
                  <a:srgbClr val="2563EB"/>
                </a:solidFill>
              </a:rPr>
              <a:t>4.7</a:t>
            </a:r>
          </a:p>
          <a:p>
            <a:r>
              <a:rPr sz="1600">
                <a:solidFill>
                  <a:srgbClr val="111827"/>
                </a:solidFill>
              </a:rPr>
              <a:t>고객 만족도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191000"/>
            <a:ext cx="11176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Pretendard"/>
              </a:rPr>
              <a:t>출처: 내부 집계 (2026년 9월 말 기준)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절차</a:t>
            </a:r>
          </a:p>
        </p:txBody>
      </p:sp>
      <p:sp>
        <p:nvSpPr>
          <p:cNvPr id="3" name="Pentagon 2"/>
          <p:cNvSpPr/>
          <p:nvPr/>
        </p:nvSpPr>
        <p:spPr>
          <a:xfrm>
            <a:off x="508000" y="2540000"/>
            <a:ext cx="2413000" cy="101600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FFFFFF"/>
                </a:solidFill>
              </a:rPr>
              <a:t>기획</a:t>
            </a:r>
          </a:p>
        </p:txBody>
      </p:sp>
      <p:sp>
        <p:nvSpPr>
          <p:cNvPr id="4" name="Chevron 3"/>
          <p:cNvSpPr/>
          <p:nvPr/>
        </p:nvSpPr>
        <p:spPr>
          <a:xfrm>
            <a:off x="2794000" y="2540000"/>
            <a:ext cx="2413000" cy="10160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FFFFFF"/>
                </a:solidFill>
              </a:rPr>
              <a:t>설계</a:t>
            </a:r>
          </a:p>
        </p:txBody>
      </p:sp>
      <p:sp>
        <p:nvSpPr>
          <p:cNvPr id="5" name="Chevron 4"/>
          <p:cNvSpPr/>
          <p:nvPr/>
        </p:nvSpPr>
        <p:spPr>
          <a:xfrm>
            <a:off x="5080000" y="2540000"/>
            <a:ext cx="2413000" cy="10160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FFFFFF"/>
                </a:solidFill>
              </a:rPr>
              <a:t>구축</a:t>
            </a:r>
          </a:p>
        </p:txBody>
      </p:sp>
      <p:sp>
        <p:nvSpPr>
          <p:cNvPr id="6" name="Chevron 5"/>
          <p:cNvSpPr/>
          <p:nvPr/>
        </p:nvSpPr>
        <p:spPr>
          <a:xfrm>
            <a:off x="7366000" y="2540000"/>
            <a:ext cx="2413000" cy="10160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FFFFFF"/>
                </a:solidFill>
              </a:rPr>
              <a:t>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9652000" y="2540000"/>
            <a:ext cx="2413000" cy="10160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FFFFFF"/>
                </a:solidFill>
              </a:rPr>
              <a:t>확산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7112000" y="4191000"/>
            <a:ext cx="3048000" cy="1016000"/>
          </a:xfrm>
          <a:prstGeom prst="wedgeRectCallou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11827"/>
                </a:solidFill>
              </a:rPr>
              <a:t>10월 착수 예정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지역별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수도권 21곳</a:t>
            </a:r>
          </a:p>
          <a:p>
            <a:r>
              <a:t>신규 9곳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지방 13곳</a:t>
            </a:r>
          </a:p>
          <a:p>
            <a:r>
              <a:t>신규 4곳</a:t>
            </a:r>
          </a:p>
        </p:txBody>
      </p:sp>
      <p:sp>
        <p:nvSpPr>
          <p:cNvPr id="5" name="Oval 4"/>
          <p:cNvSpPr/>
          <p:nvPr/>
        </p:nvSpPr>
        <p:spPr>
          <a:xfrm>
            <a:off x="5778500" y="3175000"/>
            <a:ext cx="635000" cy="635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190500" dist="381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81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  <a:latin typeface="맑은 고딕"/>
              </a:rPr>
              <a:t>조직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0" y="1270000"/>
            <a:ext cx="2032000" cy="635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FFFFFF"/>
                </a:solidFill>
              </a:rPr>
              <a:t>대표이사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4000" y="2921000"/>
            <a:ext cx="2032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11827"/>
                </a:solidFill>
              </a:rPr>
              <a:t>전략기획실</a:t>
            </a:r>
          </a:p>
        </p:txBody>
      </p:sp>
      <p:cxnSp>
        <p:nvCxnSpPr>
          <p:cNvPr id="5" name="Connector 4"/>
          <p:cNvCxnSpPr>
            <a:stCxn id="3" idx="2"/>
            <a:endCxn id="4" idx="0"/>
          </p:cNvCxnSpPr>
          <p:nvPr/>
        </p:nvCxnSpPr>
        <p:spPr>
          <a:xfrm flipH="1">
            <a:off x="2540000" y="1905000"/>
            <a:ext cx="3556000" cy="1016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0" y="2921000"/>
            <a:ext cx="2032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11827"/>
                </a:solidFill>
              </a:rPr>
              <a:t>사업본부</a:t>
            </a:r>
          </a:p>
        </p:txBody>
      </p:sp>
      <p:cxnSp>
        <p:nvCxnSpPr>
          <p:cNvPr id="7" name="Connector 6"/>
          <p:cNvCxnSpPr>
            <a:stCxn id="3" idx="2"/>
            <a:endCxn id="6" idx="0"/>
          </p:cNvCxnSpPr>
          <p:nvPr/>
        </p:nvCxnSpPr>
        <p:spPr>
          <a:xfrm flipH="1">
            <a:off x="6096000" y="1905000"/>
            <a:ext cx="0" cy="1016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36000" y="2921000"/>
            <a:ext cx="2032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11827"/>
                </a:solidFill>
              </a:rPr>
              <a:t>기술연구소</a:t>
            </a:r>
          </a:p>
        </p:txBody>
      </p:sp>
      <p:cxnSp>
        <p:nvCxnSpPr>
          <p:cNvPr id="9" name="Connector 8"/>
          <p:cNvCxnSpPr>
            <a:stCxn id="3" idx="2"/>
            <a:endCxn id="8" idx="0"/>
          </p:cNvCxnSpPr>
          <p:nvPr/>
        </p:nvCxnSpPr>
        <p:spPr>
          <a:xfrm>
            <a:off x="6096000" y="1905000"/>
            <a:ext cx="3556000" cy="1016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0" y="5080000"/>
            <a:ext cx="1143000" cy="114300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매출 구성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651000"/>
          <a:ext cx="4572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350000" y="2540000"/>
            <a:ext cx="254000" cy="2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31000" y="2476500"/>
            <a:ext cx="381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맑은 고딕"/>
              </a:rPr>
              <a:t>구독 55%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0000" y="3175000"/>
            <a:ext cx="254000" cy="25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1000" y="3111500"/>
            <a:ext cx="381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맑은 고딕"/>
              </a:rPr>
              <a:t>라이선스 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3810000"/>
            <a:ext cx="254000" cy="25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1000" y="3746500"/>
            <a:ext cx="381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맑은 고딕"/>
              </a:rPr>
              <a:t>서비스 15%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