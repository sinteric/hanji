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Revenue</c:v>
                </c:pt>
              </c:strCache>
            </c:strRef>
          </c:tx>
          <c:cat>
            <c:strRef>
              <c:f>Sheet1!$A$2:$A$5</c:f>
              <c:strCache>
                <c:ptCount val="4"/>
                <c:pt idx="0">
                  <c:v>Q1</c:v>
                </c:pt>
                <c:pt idx="1">
                  <c:v>Q2</c:v>
                </c:pt>
                <c:pt idx="2">
                  <c:v>Q3</c:v>
                </c:pt>
                <c:pt idx="3">
                  <c:v>Q4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1.2</c:v>
                </c:pt>
                <c:pt idx="1">
                  <c:v>2.1</c:v>
                </c:pt>
                <c:pt idx="2">
                  <c:v>3.3</c:v>
                </c:pt>
                <c:pt idx="3">
                  <c:v>4.8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Cost</c:v>
                </c:pt>
              </c:strCache>
            </c:strRef>
          </c:tx>
          <c:cat>
            <c:strRef>
              <c:f>Sheet1!$A$2:$A$5</c:f>
              <c:strCache>
                <c:ptCount val="4"/>
                <c:pt idx="0">
                  <c:v>Q1</c:v>
                </c:pt>
                <c:pt idx="1">
                  <c:v>Q2</c:v>
                </c:pt>
                <c:pt idx="2">
                  <c:v>Q3</c:v>
                </c:pt>
                <c:pt idx="3">
                  <c:v>Q4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1.8</c:v>
                </c:pt>
                <c:pt idx="1">
                  <c:v>2.0</c:v>
                </c:pt>
                <c:pt idx="2">
                  <c:v>2.4</c:v>
                </c:pt>
                <c:pt idx="3">
                  <c:v>2.9</c:v>
                </c:pt>
              </c:numCache>
            </c:numRef>
          </c:val>
        </c:ser>
        <c:axId val="2068027336"/>
        <c:axId val="2113994440"/>
      </c:barChart>
      <c:catAx>
        <c:axId val="2068027336"/>
        <c:scaling>
          <c:orientation val="minMax"/>
        </c:scaling>
        <c:delete val="0"/>
        <c:axPos val="b"/>
        <c:majorTickMark val="out"/>
        <c:minorTickMark val="none"/>
        <c:tickLblPos val="nextTo"/>
        <c:crossAx val="2113994440"/>
        <c:crosses val="autoZero"/>
        <c:auto val="1"/>
        <c:lblAlgn val="ctr"/>
        <c:lblOffset val="100"/>
        <c:noMultiLvlLbl val="0"/>
      </c:catAx>
      <c:valAx>
        <c:axId val="2113994440"/>
        <c:scaling/>
        <c:delete val="0"/>
        <c:axPos val="l"/>
        <c:majorGridlines/>
        <c:majorTickMark val="out"/>
        <c:minorTickMark val="none"/>
        <c:tickLblPos val="nextTo"/>
        <c:crossAx val="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Relationship Id="rId3" Type="http://schemas.openxmlformats.org/officeDocument/2006/relationships/image" Target="../media/image3.jpg"/><Relationship Id="rId4" Type="http://schemas.openxmlformats.org/officeDocument/2006/relationships/image" Target="../media/image4.jp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01B3A">
              <a:alpha val="5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12800" y="2540000"/>
            <a:ext cx="8890000" cy="1143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5400" b="1">
                <a:solidFill>
                  <a:srgbClr val="FFFFFF"/>
                </a:solidFill>
                <a:latin typeface="Pretendard ExtraBold"/>
              </a:rPr>
              <a:t>Northwind Mobility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12800" y="3683000"/>
            <a:ext cx="7620000" cy="50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200" b="0">
                <a:solidFill>
                  <a:srgbClr val="CFE8FF"/>
                </a:solidFill>
                <a:latin typeface="Pretendard"/>
              </a:rPr>
              <a:t>Series A · 2026</a:t>
            </a:r>
          </a:p>
        </p:txBody>
      </p:sp>
      <p:grpSp>
        <p:nvGrpSpPr>
          <p:cNvPr id="8" name="Logo"/>
          <p:cNvGrpSpPr/>
          <p:nvPr/>
        </p:nvGrpSpPr>
        <p:grpSpPr>
          <a:xfrm>
            <a:off x="812800" y="812800"/>
            <a:ext cx="1701800" cy="457200"/>
            <a:chOff x="812800" y="812800"/>
            <a:chExt cx="1701800" cy="457200"/>
          </a:xfrm>
        </p:grpSpPr>
        <p:sp>
          <p:nvSpPr>
            <p:cNvPr id="6" name="Oval 5"/>
            <p:cNvSpPr/>
            <p:nvPr/>
          </p:nvSpPr>
          <p:spPr>
            <a:xfrm>
              <a:off x="812800" y="812800"/>
              <a:ext cx="457200" cy="457200"/>
            </a:xfrm>
            <a:prstGeom prst="ellipse">
              <a:avLst/>
            </a:prstGeom>
            <a:solidFill>
              <a:srgbClr val="14B8A6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7" name="Rectangle 6"/>
            <p:cNvSpPr/>
            <p:nvPr/>
          </p:nvSpPr>
          <p:spPr>
            <a:xfrm>
              <a:off x="1371600" y="914400"/>
              <a:ext cx="1143000" cy="2540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</p:spTree>
  </p:cSld>
  <p:clrMapOvr>
    <a:masterClrMapping/>
  </p:clrMapOvr>
  <p:transition spd="med">
    <p:fade/>
  </p:transition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12800" y="508000"/>
            <a:ext cx="7620000" cy="76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4000" b="1">
                <a:solidFill>
                  <a:srgbClr val="101B3A"/>
                </a:solidFill>
                <a:latin typeface="Pretendard"/>
              </a:rPr>
              <a:t>Agenda</a:t>
            </a:r>
          </a:p>
        </p:txBody>
      </p:sp>
      <p:sp>
        <p:nvSpPr>
          <p:cNvPr id="3" name="Oval 2"/>
          <p:cNvSpPr/>
          <p:nvPr/>
        </p:nvSpPr>
        <p:spPr>
          <a:xfrm>
            <a:off x="1270000" y="2794000"/>
            <a:ext cx="914400" cy="91440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800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89000" y="3937000"/>
            <a:ext cx="1676400" cy="50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>
                <a:solidFill>
                  <a:srgbClr val="222222"/>
                </a:solidFill>
                <a:latin typeface="Pretendard"/>
              </a:rPr>
              <a:t>Problem</a:t>
            </a:r>
          </a:p>
        </p:txBody>
      </p:sp>
      <p:sp>
        <p:nvSpPr>
          <p:cNvPr id="5" name="Oval 4"/>
          <p:cNvSpPr/>
          <p:nvPr/>
        </p:nvSpPr>
        <p:spPr>
          <a:xfrm>
            <a:off x="3810000" y="2794000"/>
            <a:ext cx="914400" cy="91440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800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429000" y="3937000"/>
            <a:ext cx="1676400" cy="50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>
                <a:solidFill>
                  <a:srgbClr val="222222"/>
                </a:solidFill>
                <a:latin typeface="Pretendard"/>
              </a:rPr>
              <a:t>Solution</a:t>
            </a:r>
          </a:p>
        </p:txBody>
      </p:sp>
      <p:cxnSp>
        <p:nvCxnSpPr>
          <p:cNvPr id="7" name="Connector 6"/>
          <p:cNvCxnSpPr>
            <a:stCxn id="3" idx="3"/>
            <a:endCxn id="5" idx="1"/>
          </p:cNvCxnSpPr>
          <p:nvPr/>
        </p:nvCxnSpPr>
        <p:spPr>
          <a:xfrm>
            <a:off x="2184400" y="3251200"/>
            <a:ext cx="1625600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Oval 7"/>
          <p:cNvSpPr/>
          <p:nvPr/>
        </p:nvSpPr>
        <p:spPr>
          <a:xfrm>
            <a:off x="6350000" y="2794000"/>
            <a:ext cx="914400" cy="91440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800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69000" y="3937000"/>
            <a:ext cx="1676400" cy="50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>
                <a:solidFill>
                  <a:srgbClr val="222222"/>
                </a:solidFill>
                <a:latin typeface="Pretendard"/>
              </a:rPr>
              <a:t>Market</a:t>
            </a:r>
          </a:p>
        </p:txBody>
      </p:sp>
      <p:cxnSp>
        <p:nvCxnSpPr>
          <p:cNvPr id="10" name="Connector 9"/>
          <p:cNvCxnSpPr>
            <a:stCxn id="5" idx="3"/>
            <a:endCxn id="8" idx="1"/>
          </p:cNvCxnSpPr>
          <p:nvPr/>
        </p:nvCxnSpPr>
        <p:spPr>
          <a:xfrm>
            <a:off x="4724400" y="3251200"/>
            <a:ext cx="1625600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Oval 10"/>
          <p:cNvSpPr/>
          <p:nvPr/>
        </p:nvSpPr>
        <p:spPr>
          <a:xfrm>
            <a:off x="8890000" y="2794000"/>
            <a:ext cx="914400" cy="91440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800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509000" y="3937000"/>
            <a:ext cx="1676400" cy="50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>
                <a:solidFill>
                  <a:srgbClr val="222222"/>
                </a:solidFill>
                <a:latin typeface="Pretendard"/>
              </a:rPr>
              <a:t>Traction</a:t>
            </a:r>
          </a:p>
        </p:txBody>
      </p:sp>
      <p:cxnSp>
        <p:nvCxnSpPr>
          <p:cNvPr id="13" name="Connector 12"/>
          <p:cNvCxnSpPr>
            <a:stCxn id="8" idx="3"/>
            <a:endCxn id="11" idx="1"/>
          </p:cNvCxnSpPr>
          <p:nvPr/>
        </p:nvCxnSpPr>
        <p:spPr>
          <a:xfrm>
            <a:off x="7264400" y="3251200"/>
            <a:ext cx="1625600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p:transition spd="med">
    <p:push/>
  </p:transition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12800" y="508000"/>
            <a:ext cx="10160000" cy="76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4000" b="1">
                <a:solidFill>
                  <a:srgbClr val="101B3A"/>
                </a:solidFill>
                <a:latin typeface="Pretendard"/>
              </a:rPr>
              <a:t>Why now</a:t>
            </a:r>
          </a:p>
        </p:txBody>
      </p:sp>
      <p:grpSp>
        <p:nvGrpSpPr>
          <p:cNvPr id="7" name="Card 1"/>
          <p:cNvGrpSpPr/>
          <p:nvPr/>
        </p:nvGrpSpPr>
        <p:grpSpPr>
          <a:xfrm>
            <a:off x="812800" y="1651000"/>
            <a:ext cx="3302000" cy="4064000"/>
            <a:chOff x="812800" y="1651000"/>
            <a:chExt cx="3302000" cy="4064000"/>
          </a:xfrm>
        </p:grpSpPr>
        <p:sp>
          <p:nvSpPr>
            <p:cNvPr id="3" name="Rounded Rectangle 2"/>
            <p:cNvSpPr/>
            <p:nvPr/>
          </p:nvSpPr>
          <p:spPr>
            <a:xfrm>
              <a:off x="812800" y="1651000"/>
              <a:ext cx="3302000" cy="4064000"/>
            </a:xfrm>
            <a:prstGeom prst="roundRect">
              <a:avLst>
                <a:gd name="adj" fmla="val 8000"/>
              </a:avLst>
            </a:prstGeom>
            <a:solidFill>
              <a:srgbClr val="FFFFFF"/>
            </a:solidFill>
            <a:ln>
              <a:noFill/>
            </a:ln>
            <a:effectLst>
              <a:outerShdw blurRad="190500" dist="38100" dir="5400000" algn="t" rotWithShape="0">
                <a:srgbClr val="000000">
                  <a:alpha val="2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" name="Freeform 3"/>
            <p:cNvSpPr/>
            <p:nvPr/>
          </p:nvSpPr>
          <p:spPr>
            <a:xfrm>
              <a:off x="1117600" y="1955800"/>
              <a:ext cx="558800" cy="558800"/>
            </a:xfrm>
            <a:custGeom>
              <a:avLst/>
              <a:gdLst/>
              <a:ahLst/>
              <a:cxnLst/>
              <a:rect l="l" t="t" r="r" b="b"/>
              <a:pathLst>
                <a:path w="558800" h="558800">
                  <a:moveTo>
                    <a:pt x="279400" y="0"/>
                  </a:moveTo>
                  <a:lnTo>
                    <a:pt x="346456" y="201168"/>
                  </a:lnTo>
                  <a:lnTo>
                    <a:pt x="558800" y="212344"/>
                  </a:lnTo>
                  <a:lnTo>
                    <a:pt x="391160" y="346456"/>
                  </a:lnTo>
                  <a:lnTo>
                    <a:pt x="447040" y="558800"/>
                  </a:lnTo>
                  <a:lnTo>
                    <a:pt x="279400" y="435864"/>
                  </a:lnTo>
                  <a:lnTo>
                    <a:pt x="111760" y="558800"/>
                  </a:lnTo>
                  <a:lnTo>
                    <a:pt x="167640" y="346456"/>
                  </a:lnTo>
                  <a:lnTo>
                    <a:pt x="0" y="212344"/>
                  </a:lnTo>
                  <a:lnTo>
                    <a:pt x="212344" y="201168"/>
                  </a:lnTo>
                  <a:close/>
                </a:path>
              </a:pathLst>
            </a:custGeom>
            <a:solidFill>
              <a:srgbClr val="FF6B5B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" name="TextBox 4"/>
            <p:cNvSpPr txBox="1"/>
            <p:nvPr/>
          </p:nvSpPr>
          <p:spPr>
            <a:xfrm>
              <a:off x="1117600" y="2717800"/>
              <a:ext cx="2692400" cy="50800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sz="2400" b="1">
                  <a:solidFill>
                    <a:srgbClr val="101B3A"/>
                  </a:solidFill>
                  <a:latin typeface="Pretendard"/>
                </a:rPr>
                <a:t>Cities</a:t>
              </a:r>
            </a:p>
          </p:txBody>
        </p:sp>
        <p:sp>
          <p:nvSpPr>
            <p:cNvPr id="6" name="TextBox 5"/>
            <p:cNvSpPr txBox="1"/>
            <p:nvPr/>
          </p:nvSpPr>
          <p:spPr>
            <a:xfrm>
              <a:off x="1117600" y="3302000"/>
              <a:ext cx="2692400" cy="152400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sz="1600" b="0">
                  <a:solidFill>
                    <a:srgbClr val="555555"/>
                  </a:solidFill>
                  <a:latin typeface="Pretendard"/>
                </a:rPr>
                <a:t>Low-emission zones in 40 cities</a:t>
              </a:r>
            </a:p>
          </p:txBody>
        </p:sp>
      </p:grpSp>
      <p:grpSp>
        <p:nvGrpSpPr>
          <p:cNvPr id="12" name="Card 2"/>
          <p:cNvGrpSpPr/>
          <p:nvPr/>
        </p:nvGrpSpPr>
        <p:grpSpPr>
          <a:xfrm>
            <a:off x="4495800" y="1651000"/>
            <a:ext cx="3302000" cy="4064000"/>
            <a:chOff x="4495800" y="1651000"/>
            <a:chExt cx="3302000" cy="4064000"/>
          </a:xfrm>
        </p:grpSpPr>
        <p:sp>
          <p:nvSpPr>
            <p:cNvPr id="8" name="Rounded Rectangle 7"/>
            <p:cNvSpPr/>
            <p:nvPr/>
          </p:nvSpPr>
          <p:spPr>
            <a:xfrm>
              <a:off x="4495800" y="1651000"/>
              <a:ext cx="3302000" cy="4064000"/>
            </a:xfrm>
            <a:prstGeom prst="roundRect">
              <a:avLst>
                <a:gd name="adj" fmla="val 8000"/>
              </a:avLst>
            </a:prstGeom>
            <a:solidFill>
              <a:srgbClr val="FFFFFF"/>
            </a:solidFill>
            <a:ln>
              <a:noFill/>
            </a:ln>
            <a:effectLst>
              <a:outerShdw blurRad="190500" dist="38100" dir="5400000" algn="t" rotWithShape="0">
                <a:srgbClr val="000000">
                  <a:alpha val="2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9" name="Freeform 8"/>
            <p:cNvSpPr/>
            <p:nvPr/>
          </p:nvSpPr>
          <p:spPr>
            <a:xfrm>
              <a:off x="4800600" y="1955800"/>
              <a:ext cx="558800" cy="558800"/>
            </a:xfrm>
            <a:custGeom>
              <a:avLst/>
              <a:gdLst/>
              <a:ahLst/>
              <a:cxnLst/>
              <a:rect l="l" t="t" r="r" b="b"/>
              <a:pathLst>
                <a:path w="558800" h="558800">
                  <a:moveTo>
                    <a:pt x="279400" y="0"/>
                  </a:moveTo>
                  <a:lnTo>
                    <a:pt x="346456" y="201168"/>
                  </a:lnTo>
                  <a:lnTo>
                    <a:pt x="558800" y="212344"/>
                  </a:lnTo>
                  <a:lnTo>
                    <a:pt x="391160" y="346456"/>
                  </a:lnTo>
                  <a:lnTo>
                    <a:pt x="447040" y="558800"/>
                  </a:lnTo>
                  <a:lnTo>
                    <a:pt x="279400" y="435864"/>
                  </a:lnTo>
                  <a:lnTo>
                    <a:pt x="111760" y="558800"/>
                  </a:lnTo>
                  <a:lnTo>
                    <a:pt x="167640" y="346456"/>
                  </a:lnTo>
                  <a:lnTo>
                    <a:pt x="0" y="212344"/>
                  </a:lnTo>
                  <a:lnTo>
                    <a:pt x="212344" y="201168"/>
                  </a:lnTo>
                  <a:close/>
                </a:path>
              </a:pathLst>
            </a:custGeom>
            <a:solidFill>
              <a:srgbClr val="FF6B5B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0" name="TextBox 9"/>
            <p:cNvSpPr txBox="1"/>
            <p:nvPr/>
          </p:nvSpPr>
          <p:spPr>
            <a:xfrm>
              <a:off x="4800600" y="2717800"/>
              <a:ext cx="2692400" cy="50800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sz="2400" b="1">
                  <a:solidFill>
                    <a:srgbClr val="101B3A"/>
                  </a:solidFill>
                  <a:latin typeface="Pretendard"/>
                </a:rPr>
                <a:t>Costs</a:t>
              </a:r>
            </a:p>
          </p:txBody>
        </p:sp>
        <p:sp>
          <p:nvSpPr>
            <p:cNvPr id="11" name="TextBox 10"/>
            <p:cNvSpPr txBox="1"/>
            <p:nvPr/>
          </p:nvSpPr>
          <p:spPr>
            <a:xfrm>
              <a:off x="4800600" y="3302000"/>
              <a:ext cx="2692400" cy="152400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sz="1600" b="0">
                  <a:solidFill>
                    <a:srgbClr val="555555"/>
                  </a:solidFill>
                  <a:latin typeface="Pretendard"/>
                </a:rPr>
                <a:t>Battery cost down 60% in 5 years</a:t>
              </a:r>
            </a:p>
          </p:txBody>
        </p:sp>
      </p:grpSp>
      <p:grpSp>
        <p:nvGrpSpPr>
          <p:cNvPr id="17" name="Card 3"/>
          <p:cNvGrpSpPr/>
          <p:nvPr/>
        </p:nvGrpSpPr>
        <p:grpSpPr>
          <a:xfrm>
            <a:off x="8178800" y="1651000"/>
            <a:ext cx="3302000" cy="4064000"/>
            <a:chOff x="8178800" y="1651000"/>
            <a:chExt cx="3302000" cy="4064000"/>
          </a:xfrm>
        </p:grpSpPr>
        <p:sp>
          <p:nvSpPr>
            <p:cNvPr id="13" name="Rounded Rectangle 12"/>
            <p:cNvSpPr/>
            <p:nvPr/>
          </p:nvSpPr>
          <p:spPr>
            <a:xfrm>
              <a:off x="8178800" y="1651000"/>
              <a:ext cx="3302000" cy="4064000"/>
            </a:xfrm>
            <a:prstGeom prst="roundRect">
              <a:avLst>
                <a:gd name="adj" fmla="val 8000"/>
              </a:avLst>
            </a:prstGeom>
            <a:solidFill>
              <a:srgbClr val="FFFFFF"/>
            </a:solidFill>
            <a:ln>
              <a:noFill/>
            </a:ln>
            <a:effectLst>
              <a:outerShdw blurRad="190500" dist="38100" dir="5400000" algn="t" rotWithShape="0">
                <a:srgbClr val="000000">
                  <a:alpha val="2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4" name="Freeform 13"/>
            <p:cNvSpPr/>
            <p:nvPr/>
          </p:nvSpPr>
          <p:spPr>
            <a:xfrm>
              <a:off x="8483600" y="1955800"/>
              <a:ext cx="558800" cy="558800"/>
            </a:xfrm>
            <a:custGeom>
              <a:avLst/>
              <a:gdLst/>
              <a:ahLst/>
              <a:cxnLst/>
              <a:rect l="l" t="t" r="r" b="b"/>
              <a:pathLst>
                <a:path w="558800" h="558800">
                  <a:moveTo>
                    <a:pt x="279400" y="0"/>
                  </a:moveTo>
                  <a:lnTo>
                    <a:pt x="346456" y="201168"/>
                  </a:lnTo>
                  <a:lnTo>
                    <a:pt x="558800" y="212344"/>
                  </a:lnTo>
                  <a:lnTo>
                    <a:pt x="391160" y="346456"/>
                  </a:lnTo>
                  <a:lnTo>
                    <a:pt x="447040" y="558800"/>
                  </a:lnTo>
                  <a:lnTo>
                    <a:pt x="279400" y="435864"/>
                  </a:lnTo>
                  <a:lnTo>
                    <a:pt x="111760" y="558800"/>
                  </a:lnTo>
                  <a:lnTo>
                    <a:pt x="167640" y="346456"/>
                  </a:lnTo>
                  <a:lnTo>
                    <a:pt x="0" y="212344"/>
                  </a:lnTo>
                  <a:lnTo>
                    <a:pt x="212344" y="201168"/>
                  </a:lnTo>
                  <a:close/>
                </a:path>
              </a:pathLst>
            </a:custGeom>
            <a:solidFill>
              <a:srgbClr val="FF6B5B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5" name="TextBox 14"/>
            <p:cNvSpPr txBox="1"/>
            <p:nvPr/>
          </p:nvSpPr>
          <p:spPr>
            <a:xfrm>
              <a:off x="8483600" y="2717800"/>
              <a:ext cx="2692400" cy="50800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sz="2400" b="1">
                  <a:solidFill>
                    <a:srgbClr val="101B3A"/>
                  </a:solidFill>
                  <a:latin typeface="Pretendard"/>
                </a:rPr>
                <a:t>People</a:t>
              </a:r>
            </a:p>
          </p:txBody>
        </p:sp>
        <p:sp>
          <p:nvSpPr>
            <p:cNvPr id="16" name="TextBox 15"/>
            <p:cNvSpPr txBox="1"/>
            <p:nvPr/>
          </p:nvSpPr>
          <p:spPr>
            <a:xfrm>
              <a:off x="8483600" y="3302000"/>
              <a:ext cx="2692400" cy="152400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sz="1600" b="0">
                  <a:solidFill>
                    <a:srgbClr val="555555"/>
                  </a:solidFill>
                  <a:latin typeface="Pretendard"/>
                </a:rPr>
                <a:t>Two thirds want fewer cars</a:t>
              </a:r>
            </a:p>
          </p:txBody>
        </p:sp>
      </p:grp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2286000"/>
          </a:xfrm>
          <a:prstGeom prst="rect">
            <a:avLst/>
          </a:prstGeom>
          <a:gradFill rotWithShape="1">
            <a:gsLst>
              <a:gs pos="0">
                <a:srgbClr val="14B8A6"/>
              </a:gs>
              <a:gs pos="100000">
                <a:srgbClr val="0EA5E9"/>
              </a:gs>
            </a:gsLst>
            <a:lin ang="0" scaled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12800" y="762000"/>
            <a:ext cx="10160000" cy="76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4000" b="1">
                <a:solidFill>
                  <a:srgbClr val="FFFFFF"/>
                </a:solidFill>
                <a:latin typeface="Pretendard"/>
              </a:rPr>
              <a:t>Traction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12800" y="2794000"/>
            <a:ext cx="3302000" cy="127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200" b="1">
                <a:solidFill>
                  <a:srgbClr val="FF6B5B"/>
                </a:solidFill>
                <a:latin typeface="Pretendard"/>
              </a:rPr>
              <a:t>12k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12800" y="4064000"/>
            <a:ext cx="3302000" cy="50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0">
                <a:solidFill>
                  <a:srgbClr val="222222"/>
                </a:solidFill>
                <a:latin typeface="Pretendard"/>
              </a:rPr>
              <a:t>riders / day</a:t>
            </a:r>
          </a:p>
        </p:txBody>
      </p:sp>
      <p:sp>
        <p:nvSpPr>
          <p:cNvPr id="6" name="Chevron 5"/>
          <p:cNvSpPr/>
          <p:nvPr/>
        </p:nvSpPr>
        <p:spPr>
          <a:xfrm rot="16200000">
            <a:off x="3352800" y="5334000"/>
            <a:ext cx="508000" cy="508000"/>
          </a:xfrm>
          <a:prstGeom prst="chevron">
            <a:avLst/>
          </a:prstGeom>
          <a:solidFill>
            <a:srgbClr val="101B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622800" y="2794000"/>
            <a:ext cx="3302000" cy="127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200" b="1">
                <a:solidFill>
                  <a:srgbClr val="FF6B5B"/>
                </a:solidFill>
                <a:latin typeface="Pretendard"/>
              </a:rPr>
              <a:t>3.4x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622800" y="4064000"/>
            <a:ext cx="3302000" cy="50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0">
                <a:solidFill>
                  <a:srgbClr val="222222"/>
                </a:solidFill>
                <a:latin typeface="Pretendard"/>
              </a:rPr>
              <a:t>YoY growth</a:t>
            </a:r>
          </a:p>
        </p:txBody>
      </p:sp>
      <p:sp>
        <p:nvSpPr>
          <p:cNvPr id="9" name="Chevron 8"/>
          <p:cNvSpPr/>
          <p:nvPr/>
        </p:nvSpPr>
        <p:spPr>
          <a:xfrm rot="16200000">
            <a:off x="7162800" y="5334000"/>
            <a:ext cx="508000" cy="508000"/>
          </a:xfrm>
          <a:prstGeom prst="chevron">
            <a:avLst/>
          </a:prstGeom>
          <a:solidFill>
            <a:srgbClr val="101B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432800" y="2794000"/>
            <a:ext cx="3302000" cy="127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200" b="1">
                <a:solidFill>
                  <a:srgbClr val="FF6B5B"/>
                </a:solidFill>
                <a:latin typeface="Pretendard"/>
              </a:rPr>
              <a:t>92%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432800" y="4064000"/>
            <a:ext cx="3302000" cy="50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0">
                <a:solidFill>
                  <a:srgbClr val="222222"/>
                </a:solidFill>
                <a:latin typeface="Pretendard"/>
              </a:rPr>
              <a:t>retention</a:t>
            </a:r>
          </a:p>
        </p:txBody>
      </p:sp>
      <p:sp>
        <p:nvSpPr>
          <p:cNvPr id="12" name="Chevron 11"/>
          <p:cNvSpPr/>
          <p:nvPr/>
        </p:nvSpPr>
        <p:spPr>
          <a:xfrm rot="16200000">
            <a:off x="10972800" y="5334000"/>
            <a:ext cx="508000" cy="508000"/>
          </a:xfrm>
          <a:prstGeom prst="chevron">
            <a:avLst/>
          </a:prstGeom>
          <a:solidFill>
            <a:srgbClr val="101B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12800" y="508000"/>
            <a:ext cx="10160000" cy="76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4000" b="1">
                <a:solidFill>
                  <a:srgbClr val="101B3A"/>
                </a:solidFill>
                <a:latin typeface="Pretendard"/>
              </a:rPr>
              <a:t>In the field</a:t>
            </a:r>
          </a:p>
        </p:txBody>
      </p:sp>
      <p:pic>
        <p:nvPicPr>
          <p:cNvPr id="3" name="Picture 2" descr="image.jpg"/>
          <p:cNvPicPr>
            <a:picLocks noChangeAspect="1"/>
          </p:cNvPicPr>
          <p:nvPr/>
        </p:nvPicPr>
        <p:blipFill>
          <a:blip r:embed="rId2"/>
          <a:srcRect l="10000" r="5000"/>
          <a:stretch>
            <a:fillRect/>
          </a:stretch>
        </p:blipFill>
        <p:spPr>
          <a:xfrm>
            <a:off x="812800" y="1524000"/>
            <a:ext cx="5080000" cy="3810000"/>
          </a:xfrm>
          <a:prstGeom prst="rect">
            <a:avLst/>
          </a:prstGeom>
        </p:spPr>
      </p:pic>
      <p:pic>
        <p:nvPicPr>
          <p:cNvPr id="4" name="Picture 3" descr="image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50000" y="1524000"/>
            <a:ext cx="2286000" cy="2286000"/>
          </a:xfrm>
          <a:prstGeom prst="ellipse">
            <a:avLst/>
          </a:prstGeom>
        </p:spPr>
      </p:pic>
      <p:pic>
        <p:nvPicPr>
          <p:cNvPr id="5" name="Picture 4" descr="image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017000" y="1524000"/>
            <a:ext cx="2540000" cy="1905000"/>
          </a:xfrm>
          <a:prstGeom prst="roundRect">
            <a:avLst/>
          </a:prstGeom>
          <a:effectLst>
            <a:outerShdw blurRad="190500" dist="38100" dir="5400000" algn="t" rotWithShape="0">
              <a:srgbClr val="000000">
                <a:alpha val="25000"/>
              </a:srgbClr>
            </a:outerShdw>
          </a:effectLst>
        </p:spPr>
      </p:pic>
      <p:sp>
        <p:nvSpPr>
          <p:cNvPr id="6" name="TextBox 5"/>
          <p:cNvSpPr txBox="1"/>
          <p:nvPr/>
        </p:nvSpPr>
        <p:spPr>
          <a:xfrm>
            <a:off x="812800" y="5461000"/>
            <a:ext cx="5080000" cy="381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0">
                <a:solidFill>
                  <a:srgbClr val="777777"/>
                </a:solidFill>
                <a:latin typeface="Pretendard"/>
              </a:rPr>
              <a:t>Depot, Incheon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350000" y="3937000"/>
            <a:ext cx="2286000" cy="381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>
                <a:solidFill>
                  <a:srgbClr val="777777"/>
                </a:solidFill>
                <a:latin typeface="Pretendard"/>
              </a:rPr>
              <a:t>Driver onboarding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12800" y="508000"/>
            <a:ext cx="10160000" cy="76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4000" b="1">
                <a:solidFill>
                  <a:srgbClr val="101B3A"/>
                </a:solidFill>
                <a:latin typeface="Pretendard"/>
              </a:rPr>
              <a:t>Roadmap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1016000" y="3556000"/>
            <a:ext cx="10160000" cy="0"/>
          </a:xfrm>
          <a:prstGeom prst="line">
            <a:avLst/>
          </a:prstGeom>
          <a:ln w="38100">
            <a:solidFill>
              <a:srgbClr val="101B3A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Diamond 3"/>
          <p:cNvSpPr/>
          <p:nvPr/>
        </p:nvSpPr>
        <p:spPr>
          <a:xfrm>
            <a:off x="1397000" y="3365500"/>
            <a:ext cx="381000" cy="381000"/>
          </a:xfrm>
          <a:prstGeom prst="diamond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52500" y="2794000"/>
            <a:ext cx="1270000" cy="381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101B3A"/>
                </a:solidFill>
                <a:latin typeface="Pretendard"/>
              </a:rPr>
              <a:t>Q1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52500" y="3873500"/>
            <a:ext cx="1270000" cy="381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>
                <a:solidFill>
                  <a:srgbClr val="222222"/>
                </a:solidFill>
                <a:latin typeface="Pretendard"/>
              </a:rPr>
              <a:t>Pilot</a:t>
            </a:r>
          </a:p>
        </p:txBody>
      </p:sp>
      <p:sp>
        <p:nvSpPr>
          <p:cNvPr id="7" name="Diamond 6"/>
          <p:cNvSpPr/>
          <p:nvPr/>
        </p:nvSpPr>
        <p:spPr>
          <a:xfrm>
            <a:off x="3556000" y="3365500"/>
            <a:ext cx="381000" cy="381000"/>
          </a:xfrm>
          <a:prstGeom prst="diamond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111500" y="2794000"/>
            <a:ext cx="1270000" cy="381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101B3A"/>
                </a:solidFill>
                <a:latin typeface="Pretendard"/>
              </a:rPr>
              <a:t>Q2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111500" y="3873500"/>
            <a:ext cx="1270000" cy="381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>
                <a:solidFill>
                  <a:srgbClr val="222222"/>
                </a:solidFill>
                <a:latin typeface="Pretendard"/>
              </a:rPr>
              <a:t>Seoul</a:t>
            </a:r>
          </a:p>
        </p:txBody>
      </p:sp>
      <p:sp>
        <p:nvSpPr>
          <p:cNvPr id="10" name="Diamond 9"/>
          <p:cNvSpPr/>
          <p:nvPr/>
        </p:nvSpPr>
        <p:spPr>
          <a:xfrm>
            <a:off x="5715000" y="3365500"/>
            <a:ext cx="381000" cy="381000"/>
          </a:xfrm>
          <a:prstGeom prst="diamond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270500" y="2794000"/>
            <a:ext cx="1270000" cy="381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101B3A"/>
                </a:solidFill>
                <a:latin typeface="Pretendard"/>
              </a:rPr>
              <a:t>Q3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270500" y="3873500"/>
            <a:ext cx="1270000" cy="381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>
                <a:solidFill>
                  <a:srgbClr val="222222"/>
                </a:solidFill>
                <a:latin typeface="Pretendard"/>
              </a:rPr>
              <a:t>Busan</a:t>
            </a:r>
          </a:p>
        </p:txBody>
      </p:sp>
      <p:sp>
        <p:nvSpPr>
          <p:cNvPr id="13" name="Diamond 12"/>
          <p:cNvSpPr/>
          <p:nvPr/>
        </p:nvSpPr>
        <p:spPr>
          <a:xfrm>
            <a:off x="7874000" y="3365500"/>
            <a:ext cx="381000" cy="381000"/>
          </a:xfrm>
          <a:prstGeom prst="diamond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429500" y="2794000"/>
            <a:ext cx="1270000" cy="381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101B3A"/>
                </a:solidFill>
                <a:latin typeface="Pretendard"/>
              </a:rPr>
              <a:t>Q4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429500" y="3873500"/>
            <a:ext cx="1270000" cy="381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>
                <a:solidFill>
                  <a:srgbClr val="222222"/>
                </a:solidFill>
                <a:latin typeface="Pretendard"/>
              </a:rPr>
              <a:t>Tokyo</a:t>
            </a:r>
          </a:p>
        </p:txBody>
      </p:sp>
      <p:sp>
        <p:nvSpPr>
          <p:cNvPr id="16" name="Diamond 15"/>
          <p:cNvSpPr/>
          <p:nvPr/>
        </p:nvSpPr>
        <p:spPr>
          <a:xfrm>
            <a:off x="10033000" y="3365500"/>
            <a:ext cx="381000" cy="381000"/>
          </a:xfrm>
          <a:prstGeom prst="diamond">
            <a:avLst/>
          </a:prstGeom>
          <a:solidFill>
            <a:srgbClr val="FF6B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588500" y="2794000"/>
            <a:ext cx="1270000" cy="381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101B3A"/>
                </a:solidFill>
                <a:latin typeface="Pretendard"/>
              </a:rPr>
              <a:t>2027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588500" y="3873500"/>
            <a:ext cx="1270000" cy="381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>
                <a:solidFill>
                  <a:srgbClr val="222222"/>
                </a:solidFill>
                <a:latin typeface="Pretendard"/>
              </a:rPr>
              <a:t>IPO?</a:t>
            </a:r>
          </a:p>
        </p:txBody>
      </p:sp>
      <p:sp>
        <p:nvSpPr>
          <p:cNvPr id="19" name="Curved Right Arrow 18"/>
          <p:cNvSpPr/>
          <p:nvPr/>
        </p:nvSpPr>
        <p:spPr>
          <a:xfrm flipH="1">
            <a:off x="10414000" y="4572000"/>
            <a:ext cx="762000" cy="1143000"/>
          </a:xfrm>
          <a:prstGeom prst="curvedRightArrow">
            <a:avLst/>
          </a:prstGeom>
          <a:solidFill>
            <a:srgbClr val="FF6B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12800" y="508000"/>
            <a:ext cx="10160000" cy="76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4000" b="1">
                <a:solidFill>
                  <a:srgbClr val="101B3A"/>
                </a:solidFill>
                <a:latin typeface="Pretendard"/>
              </a:rPr>
              <a:t>Unit economics</a:t>
            </a:r>
          </a:p>
        </p:txBody>
      </p:sp>
      <p:graphicFrame>
        <p:nvGraphicFramePr>
          <p:cNvPr id="3" name="Chart 2"/>
          <p:cNvGraphicFramePr>
            <a:graphicFrameLocks noGrp="1"/>
          </p:cNvGraphicFramePr>
          <p:nvPr/>
        </p:nvGraphicFramePr>
        <p:xfrm>
          <a:off x="812800" y="1524000"/>
          <a:ext cx="6096000" cy="43180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7366000" y="1778000"/>
          <a:ext cx="4064000" cy="2032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32000"/>
                <a:gridCol w="2032000"/>
              </a:tblGrid>
              <a:tr h="508000">
                <a:tc>
                  <a:txBody>
                    <a:bodyPr/>
                    <a:lstStyle/>
                    <a:p>
                      <a:r>
                        <a:t>Metric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Value</a:t>
                      </a:r>
                    </a:p>
                  </a:txBody>
                  <a:tcPr/>
                </a:tc>
              </a:tr>
              <a:tr h="508000">
                <a:tc>
                  <a:txBody>
                    <a:bodyPr/>
                    <a:lstStyle/>
                    <a:p>
                      <a:r>
                        <a:t>CAC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$18</a:t>
                      </a:r>
                    </a:p>
                  </a:txBody>
                  <a:tcPr/>
                </a:tc>
              </a:tr>
              <a:tr h="508000">
                <a:tc>
                  <a:txBody>
                    <a:bodyPr/>
                    <a:lstStyle/>
                    <a:p>
                      <a:r>
                        <a:t>LTV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$240</a:t>
                      </a:r>
                    </a:p>
                  </a:txBody>
                  <a:tcPr/>
                </a:tc>
              </a:tr>
              <a:tr h="508000">
                <a:tc>
                  <a:txBody>
                    <a:bodyPr/>
                    <a:lstStyle/>
                    <a:p>
                      <a:r>
                        <a:t>Payback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4 mo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gradFill>
          <a:gsLst>
            <a:gs pos="0">
              <a:srgbClr val="101B3A"/>
            </a:gs>
            <a:gs pos="100000">
              <a:srgbClr val="1E3A8A"/>
            </a:gs>
          </a:gsLst>
          <a:lin ang="2700000"/>
        </a:gra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 rot="480000">
            <a:off x="508000" y="508000"/>
            <a:ext cx="2032000" cy="203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0" b="1">
                <a:solidFill>
                  <a:srgbClr val="14B8A6"/>
                </a:solidFill>
                <a:latin typeface="Georgia"/>
              </a:rPr>
              <a:t>“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778000" y="2159000"/>
            <a:ext cx="8890000" cy="203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600" b="0">
                <a:solidFill>
                  <a:srgbClr val="FFFFFF"/>
                </a:solidFill>
                <a:latin typeface="Pretendard Light"/>
              </a:rPr>
              <a:t>We moved 30% of our staff out of cars in six months.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778000" y="4445000"/>
            <a:ext cx="7620000" cy="381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0">
                <a:solidFill>
                  <a:srgbClr val="CFE8FF"/>
                </a:solidFill>
                <a:latin typeface="Pretendard"/>
              </a:rPr>
              <a:t>— Head of Operations, a pilot customer</a:t>
            </a:r>
          </a:p>
        </p:txBody>
      </p:sp>
    </p:spTree>
  </p:cSld>
  <p:clrMapOvr>
    <a:masterClrMapping/>
  </p:clrMapOvr>
  <p:transition spd="med">
    <p:fade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