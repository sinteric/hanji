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4" r:id="rId12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2.1</c:v>
                </c:pt>
                <c:pt idx="2">
                  <c:v>3.3</c:v>
                </c:pt>
                <c:pt idx="3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2.0</c:v>
                </c:pt>
                <c:pt idx="2">
                  <c:v>2.4</c:v>
                </c:pt>
                <c:pt idx="3">
                  <c:v>2.9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rcRect l="10000" t="5000" r="10000" b="5000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40000"/>
            <a:ext cx="889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7F50"/>
                </a:solidFill>
                <a:latin typeface="Noto Sans KR"/>
              </a:rPr>
              <a:t>Northwind</a:t>
            </a:r>
            <a:r>
              <a:rPr sz="5400" b="1">
                <a:solidFill>
                  <a:srgbClr val="FFFFFF"/>
                </a:solidFill>
                <a:latin typeface="Noto Sans KR"/>
              </a:rPr>
              <a:t>-2</a:t>
            </a:r>
            <a:r>
              <a:rPr sz="5400">
                <a:solidFill>
                  <a:srgbClr val="FFFFFF"/>
                </a:solidFill>
                <a:latin typeface="Noto Sans KR"/>
              </a:rPr>
              <a:t> </a:t>
            </a:r>
            <a:r>
              <a:rPr sz="5400" b="1">
                <a:solidFill>
                  <a:srgbClr val="FFFFFF"/>
                </a:solidFill>
                <a:latin typeface="Noto Sans KR"/>
              </a:rPr>
              <a:t>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683000"/>
            <a:ext cx="762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FE8FF"/>
                </a:solidFill>
                <a:latin typeface="Pretendard"/>
              </a:rPr>
              <a:t>Series A · 2026</a:t>
            </a:r>
          </a:p>
        </p:txBody>
      </p:sp>
      <p:grpSp>
        <p:nvGrpSpPr>
          <p:cNvPr id="8" name="Logo"/>
          <p:cNvGrpSpPr/>
          <p:nvPr/>
        </p:nvGrpSpPr>
        <p:grpSpPr>
          <a:xfrm>
            <a:off x="812800" y="812800"/>
            <a:ext cx="1701800" cy="457200"/>
            <a:chOff x="812800" y="812800"/>
            <a:chExt cx="1701800" cy="457200"/>
          </a:xfrm>
        </p:grpSpPr>
        <p:sp>
          <p:nvSpPr>
            <p:cNvPr id="6" name="Oval 5"/>
            <p:cNvSpPr/>
            <p:nvPr/>
          </p:nvSpPr>
          <p:spPr>
            <a:xfrm>
              <a:off x="812800" y="812800"/>
              <a:ext cx="457200" cy="457200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914400"/>
              <a:ext cx="1143000" cy="25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762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1727200" y="2794000"/>
            <a:ext cx="9144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Problem</a:t>
            </a:r>
          </a:p>
        </p:txBody>
      </p:sp>
      <p:sp>
        <p:nvSpPr>
          <p:cNvPr id="5" name="Oval 4"/>
          <p:cNvSpPr/>
          <p:nvPr/>
        </p:nvSpPr>
        <p:spPr>
          <a:xfrm>
            <a:off x="381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Solution</a:t>
            </a:r>
          </a:p>
        </p:txBody>
      </p:sp>
      <p:cxnSp>
        <p:nvCxnSpPr>
          <p:cNvPr id="7" name="Connector 6"/>
          <p:cNvCxnSpPr>
            <a:stCxn id="3" idx="1"/>
            <a:endCxn id="5" idx="1"/>
          </p:cNvCxnSpPr>
          <p:nvPr/>
        </p:nvCxnSpPr>
        <p:spPr>
          <a:xfrm>
            <a:off x="1727200" y="3251200"/>
            <a:ext cx="2082800" cy="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5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Market</a:t>
            </a:r>
          </a:p>
        </p:txBody>
      </p:sp>
      <p:cxnSp>
        <p:nvCxnSpPr>
          <p:cNvPr id="10" name="Connector 9"/>
          <p:cNvCxnSpPr>
            <a:stCxn id="5" idx="3"/>
            <a:endCxn id="8" idx="1"/>
          </p:cNvCxnSpPr>
          <p:nvPr/>
        </p:nvCxnSpPr>
        <p:spPr>
          <a:xfrm>
            <a:off x="4724400" y="325120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89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Traction</a:t>
            </a:r>
          </a:p>
        </p:txBody>
      </p:sp>
      <p:cxnSp>
        <p:nvCxnSpPr>
          <p:cNvPr id="13" name="Connector 12"/>
          <p:cNvCxnSpPr>
            <a:stCxn id="8" idx="3"/>
            <a:endCxn id="11" idx="1"/>
          </p:cNvCxnSpPr>
          <p:nvPr/>
        </p:nvCxnSpPr>
        <p:spPr>
          <a:xfrm>
            <a:off x="7264400" y="325120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Why now</a:t>
            </a:r>
          </a:p>
        </p:txBody>
      </p:sp>
      <p:grpSp>
        <p:nvGrpSpPr>
          <p:cNvPr id="7" name="Card 1"/>
          <p:cNvGrpSpPr/>
          <p:nvPr/>
        </p:nvGrpSpPr>
        <p:grpSpPr>
          <a:xfrm>
            <a:off x="812800" y="1651000"/>
            <a:ext cx="3302000" cy="4064000"/>
            <a:chOff x="812800" y="1651000"/>
            <a:chExt cx="3302000" cy="4064000"/>
          </a:xfrm>
        </p:grpSpPr>
        <p:sp>
          <p:nvSpPr>
            <p:cNvPr id="3" name="Rounded Rectangle 2"/>
            <p:cNvSpPr/>
            <p:nvPr/>
          </p:nvSpPr>
          <p:spPr>
            <a:xfrm>
              <a:off x="812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17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17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Cities-2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17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Low-emission zones in 40 cities</a:t>
              </a:r>
            </a:p>
          </p:txBody>
        </p:sp>
      </p:grpSp>
      <p:grpSp>
        <p:nvGrpSpPr>
          <p:cNvPr id="12" name="Card 2"/>
          <p:cNvGrpSpPr/>
          <p:nvPr/>
        </p:nvGrpSpPr>
        <p:grpSpPr>
          <a:xfrm>
            <a:off x="4495800" y="1651000"/>
            <a:ext cx="3302000" cy="4064000"/>
            <a:chOff x="4495800" y="1651000"/>
            <a:chExt cx="3302000" cy="4064000"/>
          </a:xfrm>
        </p:grpSpPr>
        <p:sp>
          <p:nvSpPr>
            <p:cNvPr id="8" name="Rounded Rectangle 7"/>
            <p:cNvSpPr/>
            <p:nvPr/>
          </p:nvSpPr>
          <p:spPr>
            <a:xfrm>
              <a:off x="4495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4800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00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Costs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00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Battery cost down 60% in 5 years</a:t>
              </a:r>
            </a:p>
          </p:txBody>
        </p:sp>
      </p:grpSp>
      <p:grpSp>
        <p:nvGrpSpPr>
          <p:cNvPr id="17" name="Card 3"/>
          <p:cNvGrpSpPr/>
          <p:nvPr/>
        </p:nvGrpSpPr>
        <p:grpSpPr>
          <a:xfrm>
            <a:off x="8178800" y="1651000"/>
            <a:ext cx="3302000" cy="4064000"/>
            <a:chOff x="8178800" y="1651000"/>
            <a:chExt cx="3302000" cy="4064000"/>
          </a:xfrm>
        </p:grpSpPr>
        <p:sp>
          <p:nvSpPr>
            <p:cNvPr id="13" name="Rounded Rectangle 12"/>
            <p:cNvSpPr/>
            <p:nvPr/>
          </p:nvSpPr>
          <p:spPr>
            <a:xfrm>
              <a:off x="8178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483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83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People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83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Two thirds want fewer cars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EA5E9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Pretendard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12k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riders / day</a:t>
            </a:r>
          </a:p>
        </p:txBody>
      </p:sp>
      <p:sp>
        <p:nvSpPr>
          <p:cNvPr id="6" name="Chevron 5"/>
          <p:cNvSpPr/>
          <p:nvPr/>
        </p:nvSpPr>
        <p:spPr>
          <a:xfrm rot="16200000">
            <a:off x="335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3.4x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YoY growth</a:t>
            </a:r>
          </a:p>
        </p:txBody>
      </p:sp>
      <p:sp>
        <p:nvSpPr>
          <p:cNvPr id="9" name="Chevron 8"/>
          <p:cNvSpPr/>
          <p:nvPr/>
        </p:nvSpPr>
        <p:spPr>
          <a:xfrm rot="16200000">
            <a:off x="716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retention</a:t>
            </a:r>
          </a:p>
        </p:txBody>
      </p:sp>
      <p:sp>
        <p:nvSpPr>
          <p:cNvPr id="12" name="Chevron 11"/>
          <p:cNvSpPr/>
          <p:nvPr/>
        </p:nvSpPr>
        <p:spPr>
          <a:xfrm rot="16200000">
            <a:off x="1097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10000" r="5000"/>
          <a:stretch>
            <a:fillRect/>
          </a:stretch>
        </p:blipFill>
        <p:spPr>
          <a:xfrm>
            <a:off x="812800" y="1524000"/>
            <a:ext cx="5080000" cy="381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In the field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524000"/>
            <a:ext cx="2286000" cy="2286000"/>
          </a:xfrm>
          <a:prstGeom prst="ellipse">
            <a:avLst/>
          </a:prstGeom>
        </p:spPr>
      </p:pic>
      <p:pic>
        <p:nvPicPr>
          <p:cNvPr id="5" name="Picture 4" descr="편집한 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1524000"/>
            <a:ext cx="2540000" cy="1905000"/>
          </a:xfrm>
          <a:prstGeom prst="ellipse">
            <a:avLst/>
          </a:prstGeom>
          <a:effectLst>
            <a:outerShdw blurRad="190500" dist="38100" dir="5400000" algn="t" rotWithShape="0">
              <a:srgbClr val="000000">
                <a:alpha val="2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12800" y="5461000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  <a:latin typeface="Pretendard"/>
              </a:rPr>
              <a:t>Depot, Incheon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3937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7777"/>
                </a:solidFill>
                <a:latin typeface="Pretendard"/>
              </a:rPr>
              <a:t>Driver onboarding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Unit economics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12800" y="1524000"/>
          <a:ext cx="60960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101B3A"/>
            </a:gs>
            <a:gs pos="100000">
              <a:srgbClr val="1E3A8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480000">
            <a:off x="508000" y="508000"/>
            <a:ext cx="2032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>
                <a:solidFill>
                  <a:srgbClr val="14B8A6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2159000"/>
            <a:ext cx="8890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Pretendard Light"/>
              </a:rPr>
              <a:t>We moved 30% of our staff out of cars in six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44450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FE8FF"/>
                </a:solidFill>
                <a:latin typeface="Pretendard"/>
              </a:rPr>
              <a:t>— Head of Operations, a pilot customer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새 슬라이드 제목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8600"/>
            <a:ext cx="8229600" cy="3556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altLang="en-US"/>
              <a:t>출처: 편집 12</a:t>
            </a:r>
          </a:p>
        </p:txBody>
      </p:sp>
      <p:sp>
        <p:nvSpPr>
          <p:cNvPr id="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ko-KR" altLang="en-US"/>
              <a:t>첫째 항목</a:t>
            </a:r>
          </a:p>
          <a:p>
            <a:pPr lvl="1"/>
            <a:r>
              <a:rPr lang="ko-KR" altLang="en-US"/>
              <a:t>둘째 항목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