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3"/>
    <p:sldId id="257" r:id="rId7"/>
    <p:sldId id="258" r:id="rId8"/>
    <p:sldId id="259" r:id="rId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전년 대비 강조</a:t>
            </a:r>
          </a:p>
        </p:txBody>
      </p:sp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endParaRPr lang="ko-KR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marL="0" algn="l" rtl="0" eaLnBrk="1" latinLnBrk="0" hangingPunct="1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2026 하반기 사업 계획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/>
              <a:t>전략기획실 · Strategy Office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핵심 지표 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매출 </a:t>
            </a:r>
            <a:r>
              <a:rPr lang="en-US" b="1"/>
              <a:t>12%</a:t>
            </a:r>
            <a:r>
              <a:rPr lang="ko-KR" altLang="en-US"/>
              <a:t> 증가 (revenue up 12%)</a:t>
            </a:r>
          </a:p>
          <a:p>
            <a:pPr lvl="1"/>
            <a:r>
              <a:rPr lang="ko-KR" altLang="en-US"/>
              <a:t>수도권 21곳, 지방 13곳</a:t>
            </a:r>
          </a:p>
          <a:p>
            <a:pPr lvl="1"/>
            <a:r>
              <a:rPr lang="ko-KR" altLang="en-US"/>
              <a:t>신규 고객 </a:t>
            </a:r>
            <a:r>
              <a:rPr lang="en-US" i="1"/>
              <a:t>34</a:t>
            </a:r>
            <a:r>
              <a:rPr lang="ko-KR" altLang="en-US"/>
              <a:t>곳</a:t>
            </a:r>
          </a:p>
          <a:p>
            <a:r>
              <a:rPr lang="ko-KR" altLang="en-US"/>
              <a:t>고객 만족도 4.7 / 5.0</a:t>
            </a:r>
          </a:p>
          <a:p>
            <a:r>
              <a:rPr lang="ko-KR" altLang="en-US"/>
              <a:t>영업이익률 </a:t>
            </a:r>
            <a:r>
              <a:rPr lang="en-US">
                <a:solidFill>
                  <a:srgbClr val="C00000"/>
                </a:solidFill>
              </a:rPr>
              <a:t>8.2%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지역별 현황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/>
              <a:t>서울: 1,204억</a:t>
            </a:r>
          </a:p>
          <a:p>
            <a:r>
              <a:rPr lang="ko-KR" altLang="en-US"/>
              <a:t>부산: 512억</a:t>
            </a:r>
          </a:p>
          <a:p>
            <a:r>
              <a:rPr lang="ko-KR" altLang="en-US"/>
              <a:t>대구: 300억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/>
              <a:t>Expand to 3 new regions</a:t>
            </a:r>
          </a:p>
          <a:p>
            <a:pPr marL="342900" indent="-342900">
              <a:buAutoNum type="arabicPeriod"/>
            </a:pPr>
            <a:r>
              <a:rPr lang="ko-KR" altLang="en-US"/>
              <a:t>물류 센터 통합</a:t>
            </a:r>
          </a:p>
          <a:p>
            <a:pPr marL="342900" indent="-342900">
              <a:buAutoNum type="arabicPeriod"/>
            </a:pPr>
            <a:r>
              <a:rPr lang="en-US"/>
              <a:t>Hire 40 engineers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감사합니다 ·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Hang" typeface="맑은 고딕"/>
      </a:majorFont>
      <a:minorFont>
        <a:latin typeface="Calibri"/>
        <a:ea typeface=""/>
        <a:cs typeface=""/>
        <a:font script="Hang" typeface="맑은 고딕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Hang" typeface="맑은 고딕"/>
      </a:majorFont>
      <a:minorFont>
        <a:latin typeface="Calibri"/>
        <a:ea typeface=""/>
        <a:cs typeface=""/>
        <a:font script="Hang" typeface="맑은 고딕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